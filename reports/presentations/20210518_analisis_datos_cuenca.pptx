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5" r:id="rId5"/>
    <p:sldId id="266" r:id="rId6"/>
    <p:sldId id="267" r:id="rId7"/>
    <p:sldId id="264" r:id="rId8"/>
    <p:sldId id="263" r:id="rId9"/>
    <p:sldId id="259" r:id="rId10"/>
    <p:sldId id="260" r:id="rId11"/>
    <p:sldId id="268" r:id="rId12"/>
    <p:sldId id="262" r:id="rId13"/>
    <p:sldId id="273" r:id="rId14"/>
    <p:sldId id="269" r:id="rId15"/>
    <p:sldId id="275" r:id="rId16"/>
    <p:sldId id="276" r:id="rId17"/>
    <p:sldId id="274" r:id="rId18"/>
    <p:sldId id="270" r:id="rId19"/>
    <p:sldId id="271" r:id="rId20"/>
    <p:sldId id="27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5" d="100"/>
          <a:sy n="65" d="100"/>
        </p:scale>
        <p:origin x="724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5/18/2021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5/18/2021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5/18/2021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5/18/2021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5/18/2021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5/18/2021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5/18/2021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5/18/2021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5/18/2021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5/18/2021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5/18/2021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96DFF08F-DC6B-4601-B491-B0F83F6DD2DA}" type="datetimeFigureOut">
              <a:rPr lang="en-US" dirty="0"/>
              <a:pPr/>
              <a:t>5/18/2021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ANÁLISIS DATOS CUENCA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Tesis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321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Contenidos</a:t>
            </a:r>
            <a:endParaRPr lang="en-US" dirty="0"/>
          </a:p>
        </p:txBody>
      </p:sp>
      <p:sp>
        <p:nvSpPr>
          <p:cNvPr id="9" name="Marcador de contenido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err="1" smtClean="0"/>
              <a:t>Selección</a:t>
            </a:r>
            <a:r>
              <a:rPr lang="en-US" dirty="0" smtClean="0"/>
              <a:t> de variables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 smtClean="0"/>
              <a:t>Modelado</a:t>
            </a:r>
            <a:endParaRPr lang="en-US" dirty="0" smtClean="0"/>
          </a:p>
          <a:p>
            <a:pPr marL="630936" lvl="1" indent="-457200">
              <a:buFont typeface="+mj-lt"/>
              <a:buAutoNum type="arabicPeriod"/>
            </a:pPr>
            <a:r>
              <a:rPr lang="en-US" dirty="0" smtClean="0"/>
              <a:t>OLS</a:t>
            </a:r>
          </a:p>
          <a:p>
            <a:pPr marL="630936" lvl="1" indent="-457200">
              <a:buFont typeface="+mj-lt"/>
              <a:buAutoNum type="arabicPeriod"/>
            </a:pPr>
            <a:r>
              <a:rPr lang="en-US" dirty="0" smtClean="0"/>
              <a:t>INLA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 smtClean="0"/>
              <a:t>Comparación</a:t>
            </a:r>
            <a:r>
              <a:rPr lang="en-US" dirty="0" smtClean="0"/>
              <a:t> de </a:t>
            </a:r>
            <a:r>
              <a:rPr lang="en-US" dirty="0" err="1" smtClean="0"/>
              <a:t>modelos</a:t>
            </a:r>
            <a:endParaRPr lang="en-US" dirty="0" smtClean="0"/>
          </a:p>
          <a:p>
            <a:pPr marL="630936" lvl="1" indent="-457200">
              <a:buFont typeface="+mj-lt"/>
              <a:buAutoNum type="arabicPeriod"/>
            </a:pPr>
            <a:r>
              <a:rPr lang="en-US" dirty="0" err="1" smtClean="0"/>
              <a:t>Ajuste</a:t>
            </a:r>
            <a:endParaRPr lang="en-US" dirty="0" smtClean="0"/>
          </a:p>
          <a:p>
            <a:pPr marL="630936" lvl="1" indent="-457200">
              <a:buFont typeface="+mj-lt"/>
              <a:buAutoNum type="arabicPeriod"/>
            </a:pPr>
            <a:r>
              <a:rPr lang="en-US" dirty="0" err="1" smtClean="0"/>
              <a:t>Coeficientes</a:t>
            </a:r>
            <a:r>
              <a:rPr lang="en-US" dirty="0" smtClean="0"/>
              <a:t> de </a:t>
            </a:r>
            <a:r>
              <a:rPr lang="en-US" dirty="0" err="1" smtClean="0"/>
              <a:t>regresion</a:t>
            </a:r>
            <a:endParaRPr lang="en-US" dirty="0" smtClean="0"/>
          </a:p>
          <a:p>
            <a:pPr marL="630936" lvl="1" indent="-457200">
              <a:buFont typeface="+mj-lt"/>
              <a:buAutoNum type="arabicPeriod"/>
            </a:pPr>
            <a:r>
              <a:rPr lang="en-US" dirty="0" err="1" smtClean="0"/>
              <a:t>Autocorrelación</a:t>
            </a:r>
            <a:r>
              <a:rPr lang="en-US" dirty="0" smtClean="0"/>
              <a:t> </a:t>
            </a:r>
            <a:r>
              <a:rPr lang="en-US" dirty="0" err="1" smtClean="0"/>
              <a:t>espacial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038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SELECCIÓN DE VARIABLES</a:t>
            </a:r>
            <a:endParaRPr lang="en-U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780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COLINEALIDAD (1/2)</a:t>
            </a:r>
            <a:endParaRPr lang="en-US" dirty="0"/>
          </a:p>
        </p:txBody>
      </p:sp>
      <p:pic>
        <p:nvPicPr>
          <p:cNvPr id="7" name="Marcador de contenido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3938" y="2315159"/>
            <a:ext cx="9720262" cy="396440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2104" y="404534"/>
            <a:ext cx="1872096" cy="179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868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COLINEALIDAD (2/2)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aliased </a:t>
            </a:r>
            <a:r>
              <a:rPr lang="en-US" dirty="0"/>
              <a:t>&lt;- c('</a:t>
            </a:r>
            <a:r>
              <a:rPr lang="en-US" dirty="0" err="1"/>
              <a:t>Plantaciones.forestales.maderables_Porc</a:t>
            </a:r>
            <a:r>
              <a:rPr lang="en-US" dirty="0"/>
              <a:t>', '</a:t>
            </a:r>
            <a:r>
              <a:rPr lang="en-US" dirty="0" err="1"/>
              <a:t>CO_veg</a:t>
            </a:r>
            <a:r>
              <a:rPr lang="en-US" dirty="0" smtClean="0"/>
              <a:t>')</a:t>
            </a:r>
          </a:p>
          <a:p>
            <a:r>
              <a:rPr lang="en-US" dirty="0" err="1" smtClean="0"/>
              <a:t>Media_tCOSha</a:t>
            </a:r>
            <a:r>
              <a:rPr lang="en-US" dirty="0" smtClean="0"/>
              <a:t> </a:t>
            </a:r>
            <a:r>
              <a:rPr lang="en-US" dirty="0"/>
              <a:t>con </a:t>
            </a:r>
            <a:r>
              <a:rPr lang="en-US" dirty="0" err="1"/>
              <a:t>Media_MO</a:t>
            </a:r>
            <a:r>
              <a:rPr lang="en-US" dirty="0"/>
              <a:t> </a:t>
            </a:r>
            <a:r>
              <a:rPr lang="en-US" dirty="0" smtClean="0"/>
              <a:t>(r = 0.994)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No tan </a:t>
            </a:r>
            <a:r>
              <a:rPr lang="en-US" dirty="0" err="1" smtClean="0"/>
              <a:t>fuerte</a:t>
            </a:r>
            <a:r>
              <a:rPr lang="en-US" dirty="0" smtClean="0"/>
              <a:t>:</a:t>
            </a:r>
            <a:endParaRPr lang="en-US" dirty="0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2"/>
          <a:srcRect r="84537"/>
          <a:stretch/>
        </p:blipFill>
        <p:spPr>
          <a:xfrm>
            <a:off x="1024128" y="4872181"/>
            <a:ext cx="2384509" cy="1285875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2"/>
          <a:srcRect l="81510"/>
          <a:stretch/>
        </p:blipFill>
        <p:spPr>
          <a:xfrm>
            <a:off x="3704200" y="4872180"/>
            <a:ext cx="2851334" cy="12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633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Pca</a:t>
            </a:r>
            <a:endParaRPr lang="en-U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SUELO</a:t>
            </a:r>
            <a:endParaRPr lang="en-U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AGUA</a:t>
            </a:r>
            <a:endParaRPr lang="en-US" dirty="0"/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7546" y="2986186"/>
            <a:ext cx="3402935" cy="3304773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735" y="3002596"/>
            <a:ext cx="3337196" cy="329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764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varimp</a:t>
            </a:r>
            <a:r>
              <a:rPr lang="en-US" dirty="0" smtClean="0"/>
              <a:t> SEGUN RF</a:t>
            </a:r>
            <a:endParaRPr lang="en-US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28" y="2084832"/>
            <a:ext cx="7627360" cy="4708195"/>
          </a:xfrm>
        </p:spPr>
      </p:pic>
    </p:spTree>
    <p:extLst>
      <p:ext uri="{BB962C8B-B14F-4D97-AF65-F5344CB8AC3E}">
        <p14:creationId xmlns:p14="http://schemas.microsoft.com/office/powerpoint/2010/main" val="3231013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24127" y="471509"/>
            <a:ext cx="3695655" cy="1737360"/>
          </a:xfrm>
        </p:spPr>
        <p:txBody>
          <a:bodyPr/>
          <a:lstStyle/>
          <a:p>
            <a:r>
              <a:rPr lang="en-US" dirty="0" err="1" smtClean="0"/>
              <a:t>Varimp</a:t>
            </a:r>
            <a:r>
              <a:rPr lang="en-US" dirty="0" smtClean="0"/>
              <a:t> </a:t>
            </a:r>
            <a:r>
              <a:rPr lang="en-US" dirty="0" err="1" smtClean="0"/>
              <a:t>segun</a:t>
            </a:r>
            <a:r>
              <a:rPr lang="en-US" dirty="0" smtClean="0"/>
              <a:t> </a:t>
            </a:r>
            <a:r>
              <a:rPr lang="en-US" dirty="0" err="1" smtClean="0"/>
              <a:t>sr_J</a:t>
            </a:r>
            <a:r>
              <a:rPr lang="en-US" dirty="0" smtClean="0"/>
              <a:t> (</a:t>
            </a:r>
            <a:r>
              <a:rPr lang="en-US" dirty="0" err="1" smtClean="0"/>
              <a:t>ols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9783" y="194253"/>
            <a:ext cx="6537686" cy="6537686"/>
          </a:xfrm>
        </p:spPr>
      </p:pic>
      <p:sp>
        <p:nvSpPr>
          <p:cNvPr id="6" name="CuadroTexto 5"/>
          <p:cNvSpPr txBox="1"/>
          <p:nvPr/>
        </p:nvSpPr>
        <p:spPr>
          <a:xfrm>
            <a:off x="794327" y="2208869"/>
            <a:ext cx="322349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Cada</a:t>
            </a:r>
            <a:r>
              <a:rPr lang="en-US" dirty="0" smtClean="0"/>
              <a:t> boxplot </a:t>
            </a:r>
            <a:r>
              <a:rPr lang="en-US" dirty="0" err="1" smtClean="0"/>
              <a:t>representa</a:t>
            </a:r>
            <a:r>
              <a:rPr lang="en-US" dirty="0" smtClean="0"/>
              <a:t> la </a:t>
            </a:r>
            <a:r>
              <a:rPr lang="en-US" dirty="0" err="1" smtClean="0"/>
              <a:t>distribucion</a:t>
            </a:r>
            <a:r>
              <a:rPr lang="en-US" dirty="0" smtClean="0"/>
              <a:t> del </a:t>
            </a:r>
            <a:r>
              <a:rPr lang="en-US" dirty="0" err="1" smtClean="0"/>
              <a:t>coeficiente</a:t>
            </a:r>
            <a:r>
              <a:rPr lang="en-US" dirty="0" smtClean="0"/>
              <a:t> de </a:t>
            </a:r>
            <a:r>
              <a:rPr lang="en-US" dirty="0" err="1" smtClean="0"/>
              <a:t>correlacion</a:t>
            </a:r>
            <a:r>
              <a:rPr lang="en-US" dirty="0" smtClean="0"/>
              <a:t> </a:t>
            </a:r>
            <a:r>
              <a:rPr lang="en-US" dirty="0" err="1" smtClean="0"/>
              <a:t>semiparcial</a:t>
            </a:r>
            <a:r>
              <a:rPr lang="en-US" dirty="0" smtClean="0"/>
              <a:t> al </a:t>
            </a:r>
            <a:r>
              <a:rPr lang="en-US" dirty="0" err="1" smtClean="0"/>
              <a:t>cuadrado</a:t>
            </a:r>
            <a:r>
              <a:rPr lang="en-US" dirty="0" smtClean="0"/>
              <a:t> de </a:t>
            </a:r>
            <a:r>
              <a:rPr lang="en-US" dirty="0" err="1" smtClean="0"/>
              <a:t>cada</a:t>
            </a:r>
            <a:r>
              <a:rPr lang="en-US" dirty="0" smtClean="0"/>
              <a:t> variable. </a:t>
            </a:r>
          </a:p>
          <a:p>
            <a:endParaRPr lang="en-US" dirty="0"/>
          </a:p>
          <a:p>
            <a:r>
              <a:rPr lang="en-US" dirty="0" smtClean="0"/>
              <a:t>El </a:t>
            </a:r>
            <a:r>
              <a:rPr lang="en-US" dirty="0" err="1" smtClean="0"/>
              <a:t>sr_j</a:t>
            </a:r>
            <a:r>
              <a:rPr lang="en-US" dirty="0" smtClean="0"/>
              <a:t> </a:t>
            </a:r>
            <a:r>
              <a:rPr lang="en-US" dirty="0" err="1" smtClean="0"/>
              <a:t>representa</a:t>
            </a:r>
            <a:r>
              <a:rPr lang="en-US" dirty="0" smtClean="0"/>
              <a:t> el </a:t>
            </a:r>
            <a:r>
              <a:rPr lang="en-US" dirty="0" err="1" smtClean="0"/>
              <a:t>cambio</a:t>
            </a:r>
            <a:r>
              <a:rPr lang="en-US" dirty="0" smtClean="0"/>
              <a:t> </a:t>
            </a:r>
            <a:r>
              <a:rPr lang="en-US" dirty="0" err="1" smtClean="0"/>
              <a:t>en</a:t>
            </a:r>
            <a:r>
              <a:rPr lang="en-US" dirty="0" smtClean="0"/>
              <a:t> el R2 al </a:t>
            </a:r>
            <a:r>
              <a:rPr lang="en-US" dirty="0" err="1" smtClean="0"/>
              <a:t>agregar</a:t>
            </a:r>
            <a:r>
              <a:rPr lang="en-US" dirty="0" smtClean="0"/>
              <a:t>/</a:t>
            </a:r>
            <a:r>
              <a:rPr lang="en-US" dirty="0" err="1" smtClean="0"/>
              <a:t>quitar</a:t>
            </a:r>
            <a:r>
              <a:rPr lang="en-US" dirty="0" smtClean="0"/>
              <a:t> la </a:t>
            </a:r>
            <a:r>
              <a:rPr lang="en-US" dirty="0" err="1" smtClean="0"/>
              <a:t>regresora</a:t>
            </a:r>
            <a:r>
              <a:rPr lang="en-US" dirty="0" smtClean="0"/>
              <a:t> (Darlington).</a:t>
            </a:r>
            <a:endParaRPr lang="en-US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/>
          <a:srcRect b="730"/>
          <a:stretch/>
        </p:blipFill>
        <p:spPr>
          <a:xfrm>
            <a:off x="1419729" y="4517193"/>
            <a:ext cx="1972686" cy="215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670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MODELADO</a:t>
            </a:r>
            <a:endParaRPr lang="en-U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16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MODELOS</a:t>
            </a:r>
            <a:endParaRPr lang="en-US" dirty="0"/>
          </a:p>
        </p:txBody>
      </p:sp>
      <p:sp>
        <p:nvSpPr>
          <p:cNvPr id="4" name="Marcador de contenido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1-7: </a:t>
            </a:r>
            <a:r>
              <a:rPr lang="en-US" dirty="0" err="1" smtClean="0"/>
              <a:t>Regresion</a:t>
            </a:r>
            <a:r>
              <a:rPr lang="en-US" dirty="0" smtClean="0"/>
              <a:t> Lineal Multiple OLS.</a:t>
            </a:r>
          </a:p>
          <a:p>
            <a:r>
              <a:rPr lang="en-US" dirty="0" smtClean="0"/>
              <a:t>9-15: </a:t>
            </a:r>
            <a:r>
              <a:rPr lang="en-US" dirty="0" err="1" smtClean="0"/>
              <a:t>Regresion</a:t>
            </a:r>
            <a:r>
              <a:rPr lang="en-US" dirty="0" smtClean="0"/>
              <a:t> lineal </a:t>
            </a:r>
            <a:r>
              <a:rPr lang="en-US" dirty="0" err="1" smtClean="0"/>
              <a:t>bayesiana</a:t>
            </a:r>
            <a:r>
              <a:rPr lang="en-US" dirty="0" smtClean="0"/>
              <a:t> con INLA.</a:t>
            </a:r>
          </a:p>
          <a:p>
            <a:endParaRPr lang="en-US" dirty="0" smtClean="0"/>
          </a:p>
          <a:p>
            <a:r>
              <a:rPr lang="en-US" dirty="0" smtClean="0"/>
              <a:t>Para </a:t>
            </a:r>
            <a:r>
              <a:rPr lang="en-US" dirty="0" err="1" smtClean="0"/>
              <a:t>cada</a:t>
            </a:r>
            <a:r>
              <a:rPr lang="en-US" dirty="0" smtClean="0"/>
              <a:t> </a:t>
            </a:r>
            <a:r>
              <a:rPr lang="en-US" dirty="0" err="1" smtClean="0"/>
              <a:t>enfoque</a:t>
            </a:r>
            <a:r>
              <a:rPr lang="en-US" dirty="0" smtClean="0"/>
              <a:t>, 7 </a:t>
            </a:r>
            <a:r>
              <a:rPr lang="en-US" dirty="0" err="1" smtClean="0"/>
              <a:t>variaciones</a:t>
            </a:r>
            <a:r>
              <a:rPr lang="en-US" dirty="0" smtClean="0"/>
              <a:t> para </a:t>
            </a:r>
            <a:r>
              <a:rPr lang="en-US" dirty="0" err="1" smtClean="0"/>
              <a:t>examinar</a:t>
            </a:r>
            <a:r>
              <a:rPr lang="en-US" dirty="0" smtClean="0"/>
              <a:t> </a:t>
            </a:r>
            <a:r>
              <a:rPr lang="en-US" dirty="0" err="1" smtClean="0"/>
              <a:t>efectos</a:t>
            </a:r>
            <a:r>
              <a:rPr lang="en-US" dirty="0" smtClean="0"/>
              <a:t> de la </a:t>
            </a:r>
            <a:r>
              <a:rPr lang="en-US" dirty="0" err="1" smtClean="0"/>
              <a:t>colinealidad</a:t>
            </a:r>
            <a:r>
              <a:rPr lang="en-US" dirty="0" smtClean="0"/>
              <a:t> y </a:t>
            </a:r>
            <a:r>
              <a:rPr lang="en-US" dirty="0" err="1" smtClean="0"/>
              <a:t>relaciones</a:t>
            </a:r>
            <a:r>
              <a:rPr lang="en-US" dirty="0" smtClean="0"/>
              <a:t> no </a:t>
            </a:r>
            <a:r>
              <a:rPr lang="en-US" dirty="0" err="1" smtClean="0"/>
              <a:t>lineales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6" name="Marcador de texto 5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Marcador de contenido 5"/>
          <p:cNvPicPr>
            <a:picLocks noChangeAspect="1"/>
          </p:cNvPicPr>
          <p:nvPr/>
        </p:nvPicPr>
        <p:blipFill rotWithShape="1">
          <a:blip r:embed="rId2"/>
          <a:srcRect r="67465"/>
          <a:stretch/>
        </p:blipFill>
        <p:spPr>
          <a:xfrm>
            <a:off x="1024128" y="1997075"/>
            <a:ext cx="3080822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359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COMPARACION DE MODELOS</a:t>
            </a:r>
            <a:endParaRPr lang="en-U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191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Bondad</a:t>
            </a:r>
            <a:r>
              <a:rPr lang="en-US" dirty="0" smtClean="0"/>
              <a:t> de </a:t>
            </a:r>
            <a:r>
              <a:rPr lang="en-US" dirty="0" err="1" smtClean="0"/>
              <a:t>ajuste</a:t>
            </a:r>
            <a:endParaRPr lang="en-US" dirty="0"/>
          </a:p>
        </p:txBody>
      </p:sp>
      <p:pic>
        <p:nvPicPr>
          <p:cNvPr id="6" name="Marcador de contenido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9433" y="2286000"/>
            <a:ext cx="9469271" cy="4022725"/>
          </a:xfrm>
          <a:prstGeom prst="rect">
            <a:avLst/>
          </a:prstGeom>
        </p:spPr>
      </p:pic>
      <p:sp>
        <p:nvSpPr>
          <p:cNvPr id="7" name="Flecha derecha 6"/>
          <p:cNvSpPr/>
          <p:nvPr/>
        </p:nvSpPr>
        <p:spPr>
          <a:xfrm>
            <a:off x="882687" y="5551055"/>
            <a:ext cx="266746" cy="1200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echa derecha 7"/>
          <p:cNvSpPr/>
          <p:nvPr/>
        </p:nvSpPr>
        <p:spPr>
          <a:xfrm>
            <a:off x="882687" y="3798454"/>
            <a:ext cx="266746" cy="1200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echa derecha 8"/>
          <p:cNvSpPr/>
          <p:nvPr/>
        </p:nvSpPr>
        <p:spPr>
          <a:xfrm>
            <a:off x="882687" y="6035965"/>
            <a:ext cx="266746" cy="120073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echa derecha 9"/>
          <p:cNvSpPr/>
          <p:nvPr/>
        </p:nvSpPr>
        <p:spPr>
          <a:xfrm>
            <a:off x="887311" y="4045525"/>
            <a:ext cx="266746" cy="120073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137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COEFICIENTES DE REGRESION (</a:t>
            </a:r>
            <a:r>
              <a:rPr lang="en-US" dirty="0" err="1" smtClean="0"/>
              <a:t>suelo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9214" y="2351333"/>
            <a:ext cx="2743200" cy="192433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935" y="4275668"/>
            <a:ext cx="2743200" cy="1920557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935" y="2435557"/>
            <a:ext cx="2743200" cy="1659636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9299" y="2435557"/>
            <a:ext cx="2743200" cy="1846034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686" y="4341883"/>
            <a:ext cx="2743200" cy="1854342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9299" y="4267438"/>
            <a:ext cx="2743200" cy="1917425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6578" y="2413266"/>
            <a:ext cx="2743200" cy="1854172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6578" y="4362649"/>
            <a:ext cx="2743200" cy="1856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269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COEFICIENTES DE REGRESION (imp-1)</a:t>
            </a:r>
            <a:endParaRPr lang="en-US" dirty="0"/>
          </a:p>
        </p:txBody>
      </p:sp>
      <p:sp>
        <p:nvSpPr>
          <p:cNvPr id="6" name="Marcador de contenido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" y="2271930"/>
            <a:ext cx="5486400" cy="3772671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056" y="2271930"/>
            <a:ext cx="5486400" cy="378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665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COEFICIENTES DE REGRESION (imp-2)</a:t>
            </a:r>
            <a:endParaRPr lang="en-US" dirty="0"/>
          </a:p>
        </p:txBody>
      </p:sp>
      <p:sp>
        <p:nvSpPr>
          <p:cNvPr id="6" name="Marcador de contenido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" y="2286000"/>
            <a:ext cx="5486400" cy="3728258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959" y="2286000"/>
            <a:ext cx="5486400" cy="375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224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CORRELACION ESPACIAL</a:t>
            </a:r>
            <a:endParaRPr lang="en-US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texto 5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563" y="2257506"/>
            <a:ext cx="3680250" cy="3762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24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CONCLUSIONES</a:t>
            </a:r>
            <a:endParaRPr lang="en-U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77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CONCLUSIONES</a:t>
            </a:r>
            <a:endParaRPr lang="en-US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en-US" dirty="0" err="1" smtClean="0"/>
              <a:t>Modelar</a:t>
            </a:r>
            <a:r>
              <a:rPr lang="en-US" dirty="0" smtClean="0"/>
              <a:t> las </a:t>
            </a:r>
            <a:r>
              <a:rPr lang="en-US" dirty="0" err="1" smtClean="0"/>
              <a:t>relaciones</a:t>
            </a:r>
            <a:r>
              <a:rPr lang="en-US" dirty="0" smtClean="0"/>
              <a:t> no </a:t>
            </a:r>
            <a:r>
              <a:rPr lang="en-US" dirty="0" err="1" smtClean="0"/>
              <a:t>lineales</a:t>
            </a:r>
            <a:r>
              <a:rPr lang="en-US" dirty="0" smtClean="0"/>
              <a:t> entre </a:t>
            </a:r>
            <a:r>
              <a:rPr lang="en-US" dirty="0" err="1" smtClean="0"/>
              <a:t>respuesta</a:t>
            </a:r>
            <a:r>
              <a:rPr lang="en-US" dirty="0" smtClean="0"/>
              <a:t> y </a:t>
            </a:r>
            <a:r>
              <a:rPr lang="en-US" dirty="0" err="1" smtClean="0"/>
              <a:t>regresoras</a:t>
            </a:r>
            <a:r>
              <a:rPr lang="en-US" dirty="0" smtClean="0"/>
              <a:t> </a:t>
            </a:r>
            <a:r>
              <a:rPr lang="en-US" dirty="0" err="1" smtClean="0"/>
              <a:t>es</a:t>
            </a:r>
            <a:r>
              <a:rPr lang="en-US" dirty="0" smtClean="0"/>
              <a:t> el </a:t>
            </a:r>
            <a:r>
              <a:rPr lang="en-US" dirty="0" err="1" smtClean="0"/>
              <a:t>aspecto</a:t>
            </a:r>
            <a:r>
              <a:rPr lang="en-US" dirty="0" smtClean="0"/>
              <a:t> que mas </a:t>
            </a:r>
            <a:r>
              <a:rPr lang="en-US" dirty="0" err="1" smtClean="0"/>
              <a:t>influencia</a:t>
            </a:r>
            <a:r>
              <a:rPr lang="en-US" dirty="0" smtClean="0"/>
              <a:t> el </a:t>
            </a:r>
            <a:r>
              <a:rPr lang="en-US" dirty="0" err="1" smtClean="0"/>
              <a:t>ajuste</a:t>
            </a:r>
            <a:r>
              <a:rPr lang="en-US" dirty="0" smtClean="0"/>
              <a:t>. </a:t>
            </a:r>
            <a:r>
              <a:rPr lang="en-US" dirty="0" err="1" smtClean="0"/>
              <a:t>Mejora</a:t>
            </a:r>
            <a:r>
              <a:rPr lang="en-US" dirty="0" smtClean="0"/>
              <a:t> con </a:t>
            </a:r>
            <a:r>
              <a:rPr lang="en-US" dirty="0" err="1" smtClean="0"/>
              <a:t>terminos</a:t>
            </a:r>
            <a:r>
              <a:rPr lang="en-US" dirty="0" smtClean="0"/>
              <a:t> </a:t>
            </a:r>
            <a:r>
              <a:rPr lang="en-US" dirty="0" err="1" smtClean="0"/>
              <a:t>polinomicos</a:t>
            </a:r>
            <a:r>
              <a:rPr lang="en-US" dirty="0" smtClean="0"/>
              <a:t>.</a:t>
            </a:r>
          </a:p>
          <a:p>
            <a:r>
              <a:rPr lang="en-US" dirty="0" smtClean="0"/>
              <a:t>2. Hay </a:t>
            </a:r>
            <a:r>
              <a:rPr lang="en-US" dirty="0" err="1" smtClean="0"/>
              <a:t>muchas</a:t>
            </a:r>
            <a:r>
              <a:rPr lang="en-US" dirty="0" smtClean="0"/>
              <a:t> variables </a:t>
            </a:r>
            <a:r>
              <a:rPr lang="en-US" dirty="0" err="1" smtClean="0"/>
              <a:t>colineales</a:t>
            </a:r>
            <a:r>
              <a:rPr lang="en-US" dirty="0" smtClean="0"/>
              <a:t>. </a:t>
            </a:r>
            <a:r>
              <a:rPr lang="en-US" dirty="0" err="1" smtClean="0"/>
              <a:t>Colinealidad</a:t>
            </a:r>
            <a:r>
              <a:rPr lang="en-US" dirty="0" smtClean="0"/>
              <a:t> cambia las </a:t>
            </a:r>
            <a:r>
              <a:rPr lang="en-US" dirty="0" err="1" smtClean="0"/>
              <a:t>estimaciones</a:t>
            </a:r>
            <a:r>
              <a:rPr lang="en-US" dirty="0" smtClean="0"/>
              <a:t> de </a:t>
            </a:r>
            <a:r>
              <a:rPr lang="en-US" dirty="0" err="1" smtClean="0"/>
              <a:t>los</a:t>
            </a:r>
            <a:r>
              <a:rPr lang="en-US" dirty="0" smtClean="0"/>
              <a:t> </a:t>
            </a:r>
            <a:r>
              <a:rPr lang="en-US" dirty="0" err="1" smtClean="0"/>
              <a:t>coeficientes</a:t>
            </a:r>
            <a:r>
              <a:rPr lang="en-US" dirty="0" smtClean="0"/>
              <a:t>. </a:t>
            </a:r>
          </a:p>
          <a:p>
            <a:r>
              <a:rPr lang="en-US" dirty="0" smtClean="0"/>
              <a:t>3. </a:t>
            </a:r>
            <a:r>
              <a:rPr lang="en-US" dirty="0" err="1" smtClean="0"/>
              <a:t>Bayesiana</a:t>
            </a:r>
            <a:r>
              <a:rPr lang="en-US" dirty="0" smtClean="0"/>
              <a:t> ‘</a:t>
            </a:r>
            <a:r>
              <a:rPr lang="en-US" dirty="0" err="1" smtClean="0"/>
              <a:t>tiende</a:t>
            </a:r>
            <a:r>
              <a:rPr lang="en-US" dirty="0" smtClean="0"/>
              <a:t>’ a </a:t>
            </a:r>
            <a:r>
              <a:rPr lang="en-US" dirty="0" err="1" smtClean="0"/>
              <a:t>incrementar</a:t>
            </a:r>
            <a:r>
              <a:rPr lang="en-US" dirty="0" smtClean="0"/>
              <a:t> el </a:t>
            </a:r>
            <a:r>
              <a:rPr lang="en-US" dirty="0" err="1" smtClean="0"/>
              <a:t>efecto</a:t>
            </a:r>
            <a:r>
              <a:rPr lang="en-US" dirty="0" smtClean="0"/>
              <a:t>.</a:t>
            </a:r>
          </a:p>
          <a:p>
            <a:r>
              <a:rPr lang="en-US" dirty="0" smtClean="0"/>
              <a:t>3. El </a:t>
            </a:r>
            <a:r>
              <a:rPr lang="en-US" noProof="1" smtClean="0"/>
              <a:t>mejor</a:t>
            </a:r>
            <a:r>
              <a:rPr lang="en-US" dirty="0" smtClean="0"/>
              <a:t> </a:t>
            </a:r>
            <a:r>
              <a:rPr lang="en-US" dirty="0" err="1" smtClean="0"/>
              <a:t>modelo</a:t>
            </a:r>
            <a:r>
              <a:rPr lang="en-US" dirty="0" smtClean="0"/>
              <a:t> </a:t>
            </a:r>
            <a:r>
              <a:rPr lang="en-US" dirty="0" err="1" smtClean="0"/>
              <a:t>es</a:t>
            </a:r>
            <a:r>
              <a:rPr lang="en-US" dirty="0" smtClean="0"/>
              <a:t> el que </a:t>
            </a:r>
            <a:r>
              <a:rPr lang="es-AR" dirty="0" smtClean="0"/>
              <a:t>contiene</a:t>
            </a:r>
            <a:r>
              <a:rPr lang="en-US" dirty="0" smtClean="0"/>
              <a:t> </a:t>
            </a:r>
            <a:r>
              <a:rPr lang="en-US" dirty="0" err="1" smtClean="0"/>
              <a:t>todas</a:t>
            </a:r>
            <a:r>
              <a:rPr lang="en-US" dirty="0" smtClean="0"/>
              <a:t> las </a:t>
            </a:r>
            <a:r>
              <a:rPr lang="en-US" dirty="0" err="1" smtClean="0"/>
              <a:t>regresoras</a:t>
            </a:r>
            <a:r>
              <a:rPr lang="en-US" dirty="0" smtClean="0"/>
              <a:t>, con </a:t>
            </a:r>
            <a:r>
              <a:rPr lang="en-US" dirty="0" err="1" smtClean="0"/>
              <a:t>terminos</a:t>
            </a:r>
            <a:r>
              <a:rPr lang="en-US" dirty="0" smtClean="0"/>
              <a:t> </a:t>
            </a:r>
            <a:r>
              <a:rPr lang="en-US" dirty="0" err="1" smtClean="0"/>
              <a:t>polinomicos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937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PREGUNTAS</a:t>
            </a:r>
            <a:endParaRPr lang="en-U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613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PREGUNTAS</a:t>
            </a:r>
            <a:endParaRPr lang="en-US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en-US" dirty="0" err="1" smtClean="0"/>
              <a:t>Interaccion</a:t>
            </a:r>
            <a:r>
              <a:rPr lang="en-US" dirty="0" smtClean="0"/>
              <a:t>. </a:t>
            </a:r>
            <a:r>
              <a:rPr lang="en-US" dirty="0" err="1" smtClean="0"/>
              <a:t>Mejora</a:t>
            </a:r>
            <a:r>
              <a:rPr lang="en-US" dirty="0" smtClean="0"/>
              <a:t> el </a:t>
            </a:r>
            <a:r>
              <a:rPr lang="en-US" dirty="0" err="1" smtClean="0"/>
              <a:t>ajuste</a:t>
            </a:r>
            <a:r>
              <a:rPr lang="en-US" dirty="0" smtClean="0"/>
              <a:t>, </a:t>
            </a:r>
            <a:r>
              <a:rPr lang="en-US" dirty="0" err="1" smtClean="0"/>
              <a:t>pero</a:t>
            </a:r>
            <a:r>
              <a:rPr lang="en-US" dirty="0" smtClean="0"/>
              <a:t> no se </a:t>
            </a:r>
            <a:r>
              <a:rPr lang="en-US" dirty="0" err="1" smtClean="0"/>
              <a:t>como</a:t>
            </a:r>
            <a:r>
              <a:rPr lang="en-US" dirty="0" smtClean="0"/>
              <a:t> </a:t>
            </a:r>
            <a:r>
              <a:rPr lang="en-US" dirty="0" err="1" smtClean="0"/>
              <a:t>elegirlas</a:t>
            </a:r>
            <a:r>
              <a:rPr lang="en-US" dirty="0" smtClean="0"/>
              <a:t>, </a:t>
            </a:r>
            <a:r>
              <a:rPr lang="en-US" dirty="0" err="1" smtClean="0"/>
              <a:t>porque</a:t>
            </a:r>
            <a:r>
              <a:rPr lang="en-US" dirty="0" smtClean="0"/>
              <a:t> las </a:t>
            </a:r>
            <a:r>
              <a:rPr lang="en-US" dirty="0" err="1" smtClean="0"/>
              <a:t>combinaciones</a:t>
            </a:r>
            <a:r>
              <a:rPr lang="en-US" dirty="0" smtClean="0"/>
              <a:t> son </a:t>
            </a:r>
            <a:r>
              <a:rPr lang="en-US" dirty="0" err="1" smtClean="0"/>
              <a:t>demasiadas</a:t>
            </a:r>
            <a:r>
              <a:rPr lang="en-US" dirty="0" smtClean="0"/>
              <a:t>.</a:t>
            </a:r>
          </a:p>
          <a:p>
            <a:r>
              <a:rPr lang="en-US" dirty="0" smtClean="0"/>
              <a:t>2. </a:t>
            </a:r>
            <a:r>
              <a:rPr lang="en-US" dirty="0" err="1" smtClean="0"/>
              <a:t>Cual</a:t>
            </a:r>
            <a:r>
              <a:rPr lang="en-US" dirty="0" smtClean="0"/>
              <a:t> </a:t>
            </a:r>
            <a:r>
              <a:rPr lang="en-US" dirty="0" err="1" smtClean="0"/>
              <a:t>es</a:t>
            </a:r>
            <a:r>
              <a:rPr lang="en-US" dirty="0" smtClean="0"/>
              <a:t> la </a:t>
            </a:r>
            <a:r>
              <a:rPr lang="en-US" dirty="0" err="1" smtClean="0"/>
              <a:t>respuesta</a:t>
            </a:r>
            <a:r>
              <a:rPr lang="en-US" dirty="0" smtClean="0"/>
              <a:t> que mas </a:t>
            </a:r>
            <a:r>
              <a:rPr lang="en-US" dirty="0" err="1" smtClean="0"/>
              <a:t>interesa</a:t>
            </a:r>
            <a:r>
              <a:rPr lang="en-US" dirty="0" smtClean="0"/>
              <a:t>? </a:t>
            </a:r>
            <a:r>
              <a:rPr lang="en-US" dirty="0" err="1" smtClean="0"/>
              <a:t>Extiendo</a:t>
            </a:r>
            <a:r>
              <a:rPr lang="en-US" dirty="0" smtClean="0"/>
              <a:t> </a:t>
            </a:r>
            <a:r>
              <a:rPr lang="en-US" dirty="0" err="1" smtClean="0"/>
              <a:t>analisis</a:t>
            </a:r>
            <a:r>
              <a:rPr lang="en-US" dirty="0" smtClean="0"/>
              <a:t> a </a:t>
            </a:r>
            <a:r>
              <a:rPr lang="en-US" dirty="0" err="1" smtClean="0"/>
              <a:t>todas</a:t>
            </a:r>
            <a:r>
              <a:rPr lang="en-US" dirty="0" smtClean="0"/>
              <a:t>?</a:t>
            </a:r>
          </a:p>
          <a:p>
            <a:r>
              <a:rPr lang="en-US" dirty="0" smtClean="0"/>
              <a:t>3. </a:t>
            </a:r>
            <a:r>
              <a:rPr lang="en-US" dirty="0" err="1" smtClean="0"/>
              <a:t>tCOSha</a:t>
            </a:r>
            <a:r>
              <a:rPr lang="en-US" dirty="0" smtClean="0"/>
              <a:t>, </a:t>
            </a:r>
            <a:r>
              <a:rPr lang="en-US" dirty="0" err="1" smtClean="0"/>
              <a:t>CO_veg</a:t>
            </a:r>
            <a:r>
              <a:rPr lang="en-US" dirty="0" smtClean="0"/>
              <a:t> son </a:t>
            </a:r>
            <a:r>
              <a:rPr lang="en-US" dirty="0" err="1" smtClean="0"/>
              <a:t>perfectamente</a:t>
            </a:r>
            <a:r>
              <a:rPr lang="en-US" dirty="0" smtClean="0"/>
              <a:t> </a:t>
            </a:r>
            <a:r>
              <a:rPr lang="en-US" dirty="0" err="1" smtClean="0"/>
              <a:t>colineales</a:t>
            </a:r>
            <a:r>
              <a:rPr lang="en-US" dirty="0" smtClean="0"/>
              <a:t>. Con que </a:t>
            </a:r>
            <a:r>
              <a:rPr lang="en-US" dirty="0" err="1" smtClean="0"/>
              <a:t>regresoras</a:t>
            </a:r>
            <a:r>
              <a:rPr lang="en-US" dirty="0" smtClean="0"/>
              <a:t> </a:t>
            </a:r>
            <a:r>
              <a:rPr lang="en-US" dirty="0" err="1" smtClean="0"/>
              <a:t>modelar</a:t>
            </a:r>
            <a:r>
              <a:rPr lang="en-US" dirty="0" smtClean="0"/>
              <a:t>?</a:t>
            </a:r>
          </a:p>
          <a:p>
            <a:r>
              <a:rPr lang="en-US" dirty="0" smtClean="0"/>
              <a:t>4. No </a:t>
            </a:r>
            <a:r>
              <a:rPr lang="en-US" dirty="0" err="1" smtClean="0"/>
              <a:t>inclui</a:t>
            </a:r>
            <a:r>
              <a:rPr lang="en-US" dirty="0" smtClean="0"/>
              <a:t> </a:t>
            </a:r>
            <a:r>
              <a:rPr lang="en-US" dirty="0" err="1" smtClean="0"/>
              <a:t>como</a:t>
            </a:r>
            <a:r>
              <a:rPr lang="en-US" dirty="0" smtClean="0"/>
              <a:t> </a:t>
            </a:r>
            <a:r>
              <a:rPr lang="en-US" dirty="0" err="1" smtClean="0"/>
              <a:t>regresoras</a:t>
            </a:r>
            <a:r>
              <a:rPr lang="en-US" dirty="0" smtClean="0"/>
              <a:t> de ESPI </a:t>
            </a:r>
            <a:r>
              <a:rPr lang="en-US" dirty="0" err="1" smtClean="0"/>
              <a:t>ni</a:t>
            </a:r>
            <a:r>
              <a:rPr lang="en-US" dirty="0" smtClean="0"/>
              <a:t> a NDVI </a:t>
            </a:r>
            <a:r>
              <a:rPr lang="en-US" dirty="0" err="1" smtClean="0"/>
              <a:t>ni</a:t>
            </a:r>
            <a:r>
              <a:rPr lang="en-US" dirty="0" smtClean="0"/>
              <a:t> a LPD = f(NDVI). </a:t>
            </a:r>
            <a:r>
              <a:rPr lang="en-US" dirty="0" err="1" smtClean="0"/>
              <a:t>Esta</a:t>
            </a:r>
            <a:r>
              <a:rPr lang="en-US" dirty="0" smtClean="0"/>
              <a:t> </a:t>
            </a:r>
            <a:r>
              <a:rPr lang="en-US" dirty="0" err="1" smtClean="0"/>
              <a:t>bien</a:t>
            </a:r>
            <a:r>
              <a:rPr lang="en-US" dirty="0" smtClean="0"/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388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403</TotalTime>
  <Words>295</Words>
  <Application>Microsoft Office PowerPoint</Application>
  <PresentationFormat>Panorámica</PresentationFormat>
  <Paragraphs>55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Tw Cen MT</vt:lpstr>
      <vt:lpstr>Tw Cen MT Condensed</vt:lpstr>
      <vt:lpstr>Wingdings 3</vt:lpstr>
      <vt:lpstr>Integral</vt:lpstr>
      <vt:lpstr>ANÁLISIS DATOS CUENCA</vt:lpstr>
      <vt:lpstr>Contenidos</vt:lpstr>
      <vt:lpstr>SELECCIÓN DE VARIABLES</vt:lpstr>
      <vt:lpstr>COLINEALIDAD (1/2)</vt:lpstr>
      <vt:lpstr>COLINEALIDAD (2/2)</vt:lpstr>
      <vt:lpstr>Pca</vt:lpstr>
      <vt:lpstr>varimp SEGUN RF</vt:lpstr>
      <vt:lpstr>Varimp segun sr_J (ols)</vt:lpstr>
      <vt:lpstr>MODELADO</vt:lpstr>
      <vt:lpstr>MODELOS</vt:lpstr>
      <vt:lpstr>COMPARACION DE MODELOS</vt:lpstr>
      <vt:lpstr>Bondad de ajuste</vt:lpstr>
      <vt:lpstr>COEFICIENTES DE REGRESION (suelo)</vt:lpstr>
      <vt:lpstr>COEFICIENTES DE REGRESION (imp-1)</vt:lpstr>
      <vt:lpstr>COEFICIENTES DE REGRESION (imp-2)</vt:lpstr>
      <vt:lpstr>CORRELACION ESPACIAL</vt:lpstr>
      <vt:lpstr>CONCLUSIONES</vt:lpstr>
      <vt:lpstr>CONCLUSIONES</vt:lpstr>
      <vt:lpstr>PREGUNTAS</vt:lpstr>
      <vt:lpstr>PREGUNTAS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DATOS CUENCA</dc:title>
  <dc:creator>alicialascruces2020@gmail.com</dc:creator>
  <cp:lastModifiedBy>alicialascruces2020@gmail.com</cp:lastModifiedBy>
  <cp:revision>15</cp:revision>
  <dcterms:created xsi:type="dcterms:W3CDTF">2021-05-18T10:33:58Z</dcterms:created>
  <dcterms:modified xsi:type="dcterms:W3CDTF">2021-05-18T17:17:58Z</dcterms:modified>
</cp:coreProperties>
</file>